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32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71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206240" cy="34747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TROJAN HORSE  |  JAN JEEVAN TRACK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BHARATAGRI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Appointment &amp; Digital Entry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for Agricultural Centres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agricultural centre visits more predictable, organized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digitally verifiable.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3A2B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12264" y="6057900"/>
            <a:ext cx="2743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41448" y="58064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3A2B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41448" y="5806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13632" y="6057900"/>
            <a:ext cx="2743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42816" y="58064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3A2B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42816" y="5806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6057900"/>
            <a:ext cx="27432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44184" y="58064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63A2B"/>
          </a:solidFill>
          <a:ln w="9525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44184" y="5806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Entry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26B180C-F05C-FBD3-9571-07C144BA3B66}"/>
              </a:ext>
            </a:extLst>
          </p:cNvPr>
          <p:cNvSpPr/>
          <p:nvPr/>
        </p:nvSpPr>
        <p:spPr>
          <a:xfrm>
            <a:off x="8001000" y="685800"/>
            <a:ext cx="3520440" cy="53949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1A2EBBEA-8A9D-849C-F116-9289F1E89E49}"/>
              </a:ext>
            </a:extLst>
          </p:cNvPr>
          <p:cNvSpPr/>
          <p:nvPr/>
        </p:nvSpPr>
        <p:spPr>
          <a:xfrm>
            <a:off x="8202168" y="914400"/>
            <a:ext cx="3118104" cy="502920"/>
          </a:xfrm>
          <a:prstGeom prst="roundRect">
            <a:avLst>
              <a:gd name="adj" fmla="val 14545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3D01257-672D-3885-36D6-CAE528F6AE87}"/>
              </a:ext>
            </a:extLst>
          </p:cNvPr>
          <p:cNvSpPr/>
          <p:nvPr/>
        </p:nvSpPr>
        <p:spPr>
          <a:xfrm>
            <a:off x="8202168" y="91440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APPOINTMENT PASS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08EF858-32B9-D82D-4FC8-08C410B1FAF6}"/>
              </a:ext>
            </a:extLst>
          </p:cNvPr>
          <p:cNvSpPr/>
          <p:nvPr/>
        </p:nvSpPr>
        <p:spPr>
          <a:xfrm>
            <a:off x="8892540" y="164592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763E956-52C0-5FA5-BD54-C03004D60B0D}"/>
              </a:ext>
            </a:extLst>
          </p:cNvPr>
          <p:cNvSpPr/>
          <p:nvPr/>
        </p:nvSpPr>
        <p:spPr>
          <a:xfrm>
            <a:off x="8892540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5A8C91BE-59ED-93BE-0F6A-970478E332AA}"/>
              </a:ext>
            </a:extLst>
          </p:cNvPr>
          <p:cNvSpPr/>
          <p:nvPr/>
        </p:nvSpPr>
        <p:spPr>
          <a:xfrm>
            <a:off x="9140734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ECD7C3DC-C6F9-31DC-96F4-356A658AADD9}"/>
              </a:ext>
            </a:extLst>
          </p:cNvPr>
          <p:cNvSpPr/>
          <p:nvPr/>
        </p:nvSpPr>
        <p:spPr>
          <a:xfrm>
            <a:off x="9388929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816CA407-0B20-A559-4C54-FDBAC241BCD3}"/>
              </a:ext>
            </a:extLst>
          </p:cNvPr>
          <p:cNvSpPr/>
          <p:nvPr/>
        </p:nvSpPr>
        <p:spPr>
          <a:xfrm>
            <a:off x="9885317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C3FAED7B-FF1A-78D7-99B6-748B527FA066}"/>
              </a:ext>
            </a:extLst>
          </p:cNvPr>
          <p:cNvSpPr/>
          <p:nvPr/>
        </p:nvSpPr>
        <p:spPr>
          <a:xfrm>
            <a:off x="10133511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0DE3EE64-AF92-92FA-6FB9-20B58EF6A204}"/>
              </a:ext>
            </a:extLst>
          </p:cNvPr>
          <p:cNvSpPr/>
          <p:nvPr/>
        </p:nvSpPr>
        <p:spPr>
          <a:xfrm>
            <a:off x="10381706" y="1645920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49048A4C-9FA8-C509-4508-1E539BE72CA0}"/>
              </a:ext>
            </a:extLst>
          </p:cNvPr>
          <p:cNvSpPr/>
          <p:nvPr/>
        </p:nvSpPr>
        <p:spPr>
          <a:xfrm>
            <a:off x="8892540" y="1894114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BF2B83B7-BF45-C9CC-F874-2C358FE6D4EE}"/>
              </a:ext>
            </a:extLst>
          </p:cNvPr>
          <p:cNvSpPr/>
          <p:nvPr/>
        </p:nvSpPr>
        <p:spPr>
          <a:xfrm>
            <a:off x="9388929" y="1894114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FE7300DE-571A-39F7-8B2F-2C0E48B7EE5A}"/>
              </a:ext>
            </a:extLst>
          </p:cNvPr>
          <p:cNvSpPr/>
          <p:nvPr/>
        </p:nvSpPr>
        <p:spPr>
          <a:xfrm>
            <a:off x="10381706" y="1894114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1C31B795-54E0-1E0D-EFD0-BFC1B8EE584F}"/>
              </a:ext>
            </a:extLst>
          </p:cNvPr>
          <p:cNvSpPr/>
          <p:nvPr/>
        </p:nvSpPr>
        <p:spPr>
          <a:xfrm>
            <a:off x="8892540" y="2142309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30">
            <a:extLst>
              <a:ext uri="{FF2B5EF4-FFF2-40B4-BE49-F238E27FC236}">
                <a16:creationId xmlns:a16="http://schemas.microsoft.com/office/drawing/2014/main" id="{01B63691-97A4-DC76-C835-0A7F78A01BEE}"/>
              </a:ext>
            </a:extLst>
          </p:cNvPr>
          <p:cNvSpPr/>
          <p:nvPr/>
        </p:nvSpPr>
        <p:spPr>
          <a:xfrm>
            <a:off x="9388929" y="2142309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31">
            <a:extLst>
              <a:ext uri="{FF2B5EF4-FFF2-40B4-BE49-F238E27FC236}">
                <a16:creationId xmlns:a16="http://schemas.microsoft.com/office/drawing/2014/main" id="{27CC856A-CA4B-E0B6-42AD-ADE9AEDEB936}"/>
              </a:ext>
            </a:extLst>
          </p:cNvPr>
          <p:cNvSpPr/>
          <p:nvPr/>
        </p:nvSpPr>
        <p:spPr>
          <a:xfrm>
            <a:off x="9885317" y="2142309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32">
            <a:extLst>
              <a:ext uri="{FF2B5EF4-FFF2-40B4-BE49-F238E27FC236}">
                <a16:creationId xmlns:a16="http://schemas.microsoft.com/office/drawing/2014/main" id="{8E4BB550-602D-45E1-3FEC-6EAD51A5F9F9}"/>
              </a:ext>
            </a:extLst>
          </p:cNvPr>
          <p:cNvSpPr/>
          <p:nvPr/>
        </p:nvSpPr>
        <p:spPr>
          <a:xfrm>
            <a:off x="10381706" y="2142309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5A7857A4-F76C-BEC6-4DA4-E86753265171}"/>
              </a:ext>
            </a:extLst>
          </p:cNvPr>
          <p:cNvSpPr/>
          <p:nvPr/>
        </p:nvSpPr>
        <p:spPr>
          <a:xfrm>
            <a:off x="9637123" y="2390503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34">
            <a:extLst>
              <a:ext uri="{FF2B5EF4-FFF2-40B4-BE49-F238E27FC236}">
                <a16:creationId xmlns:a16="http://schemas.microsoft.com/office/drawing/2014/main" id="{65ED8770-7182-FEF9-F348-174B03BE88D8}"/>
              </a:ext>
            </a:extLst>
          </p:cNvPr>
          <p:cNvSpPr/>
          <p:nvPr/>
        </p:nvSpPr>
        <p:spPr>
          <a:xfrm>
            <a:off x="8892540" y="2638697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2776B059-5D33-154E-148A-007620648D18}"/>
              </a:ext>
            </a:extLst>
          </p:cNvPr>
          <p:cNvSpPr/>
          <p:nvPr/>
        </p:nvSpPr>
        <p:spPr>
          <a:xfrm>
            <a:off x="9388929" y="2638697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050C4FB0-C227-C26F-C889-B5D33AA0537A}"/>
              </a:ext>
            </a:extLst>
          </p:cNvPr>
          <p:cNvSpPr/>
          <p:nvPr/>
        </p:nvSpPr>
        <p:spPr>
          <a:xfrm>
            <a:off x="9885317" y="2638697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BEB12FC8-99A1-A03F-A137-4B501F956E0F}"/>
              </a:ext>
            </a:extLst>
          </p:cNvPr>
          <p:cNvSpPr/>
          <p:nvPr/>
        </p:nvSpPr>
        <p:spPr>
          <a:xfrm>
            <a:off x="10381706" y="2638697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D0767E3A-8E15-DCB0-1189-98F81EF681DE}"/>
              </a:ext>
            </a:extLst>
          </p:cNvPr>
          <p:cNvSpPr/>
          <p:nvPr/>
        </p:nvSpPr>
        <p:spPr>
          <a:xfrm>
            <a:off x="8892540" y="2886891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39">
            <a:extLst>
              <a:ext uri="{FF2B5EF4-FFF2-40B4-BE49-F238E27FC236}">
                <a16:creationId xmlns:a16="http://schemas.microsoft.com/office/drawing/2014/main" id="{1396D67E-05FC-902A-A9B1-85E69376BFE4}"/>
              </a:ext>
            </a:extLst>
          </p:cNvPr>
          <p:cNvSpPr/>
          <p:nvPr/>
        </p:nvSpPr>
        <p:spPr>
          <a:xfrm>
            <a:off x="9885317" y="2886891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40">
            <a:extLst>
              <a:ext uri="{FF2B5EF4-FFF2-40B4-BE49-F238E27FC236}">
                <a16:creationId xmlns:a16="http://schemas.microsoft.com/office/drawing/2014/main" id="{74D834A5-A772-C9BE-D9B6-E5CD33951212}"/>
              </a:ext>
            </a:extLst>
          </p:cNvPr>
          <p:cNvSpPr/>
          <p:nvPr/>
        </p:nvSpPr>
        <p:spPr>
          <a:xfrm>
            <a:off x="10381706" y="2886891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41">
            <a:extLst>
              <a:ext uri="{FF2B5EF4-FFF2-40B4-BE49-F238E27FC236}">
                <a16:creationId xmlns:a16="http://schemas.microsoft.com/office/drawing/2014/main" id="{BD67DB63-2622-F95C-2041-BC214134FAFA}"/>
              </a:ext>
            </a:extLst>
          </p:cNvPr>
          <p:cNvSpPr/>
          <p:nvPr/>
        </p:nvSpPr>
        <p:spPr>
          <a:xfrm>
            <a:off x="8892540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42">
            <a:extLst>
              <a:ext uri="{FF2B5EF4-FFF2-40B4-BE49-F238E27FC236}">
                <a16:creationId xmlns:a16="http://schemas.microsoft.com/office/drawing/2014/main" id="{7ADA7FE1-55C5-7FD2-5FB5-DD52E41F8226}"/>
              </a:ext>
            </a:extLst>
          </p:cNvPr>
          <p:cNvSpPr/>
          <p:nvPr/>
        </p:nvSpPr>
        <p:spPr>
          <a:xfrm>
            <a:off x="9140734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43">
            <a:extLst>
              <a:ext uri="{FF2B5EF4-FFF2-40B4-BE49-F238E27FC236}">
                <a16:creationId xmlns:a16="http://schemas.microsoft.com/office/drawing/2014/main" id="{2857CDB3-52CC-12A8-D613-8883F5A00114}"/>
              </a:ext>
            </a:extLst>
          </p:cNvPr>
          <p:cNvSpPr/>
          <p:nvPr/>
        </p:nvSpPr>
        <p:spPr>
          <a:xfrm>
            <a:off x="9388929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44">
            <a:extLst>
              <a:ext uri="{FF2B5EF4-FFF2-40B4-BE49-F238E27FC236}">
                <a16:creationId xmlns:a16="http://schemas.microsoft.com/office/drawing/2014/main" id="{A43D1E67-CBD5-8D8C-84E0-62043E590474}"/>
              </a:ext>
            </a:extLst>
          </p:cNvPr>
          <p:cNvSpPr/>
          <p:nvPr/>
        </p:nvSpPr>
        <p:spPr>
          <a:xfrm>
            <a:off x="9885317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45">
            <a:extLst>
              <a:ext uri="{FF2B5EF4-FFF2-40B4-BE49-F238E27FC236}">
                <a16:creationId xmlns:a16="http://schemas.microsoft.com/office/drawing/2014/main" id="{7E1531AD-4B02-D87C-CBBF-CECA8CDD9152}"/>
              </a:ext>
            </a:extLst>
          </p:cNvPr>
          <p:cNvSpPr/>
          <p:nvPr/>
        </p:nvSpPr>
        <p:spPr>
          <a:xfrm>
            <a:off x="10133511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46">
            <a:extLst>
              <a:ext uri="{FF2B5EF4-FFF2-40B4-BE49-F238E27FC236}">
                <a16:creationId xmlns:a16="http://schemas.microsoft.com/office/drawing/2014/main" id="{C1BB2BA8-9D94-AC92-77A3-39925DF91C31}"/>
              </a:ext>
            </a:extLst>
          </p:cNvPr>
          <p:cNvSpPr/>
          <p:nvPr/>
        </p:nvSpPr>
        <p:spPr>
          <a:xfrm>
            <a:off x="10381706" y="3135086"/>
            <a:ext cx="248194" cy="24819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DDF2D612-682A-C632-03CB-AF3593CA6D93}"/>
              </a:ext>
            </a:extLst>
          </p:cNvPr>
          <p:cNvSpPr/>
          <p:nvPr/>
        </p:nvSpPr>
        <p:spPr>
          <a:xfrm>
            <a:off x="8275320" y="3611880"/>
            <a:ext cx="2971800" cy="384048"/>
          </a:xfrm>
          <a:prstGeom prst="roundRect">
            <a:avLst>
              <a:gd name="adj" fmla="val 19048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2CA081DC-A833-CE1B-FD06-7E350FB6B224}"/>
              </a:ext>
            </a:extLst>
          </p:cNvPr>
          <p:cNvSpPr/>
          <p:nvPr/>
        </p:nvSpPr>
        <p:spPr>
          <a:xfrm>
            <a:off x="8275320" y="36118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APPOINTMENT</a:t>
            </a:r>
            <a:endParaRPr lang="en-US" sz="1100" dirty="0"/>
          </a:p>
        </p:txBody>
      </p:sp>
      <p:sp>
        <p:nvSpPr>
          <p:cNvPr id="87" name="Text 49">
            <a:extLst>
              <a:ext uri="{FF2B5EF4-FFF2-40B4-BE49-F238E27FC236}">
                <a16:creationId xmlns:a16="http://schemas.microsoft.com/office/drawing/2014/main" id="{FC34E4BB-F7B6-E757-07E2-076BAB7D3790}"/>
              </a:ext>
            </a:extLst>
          </p:cNvPr>
          <p:cNvSpPr/>
          <p:nvPr/>
        </p:nvSpPr>
        <p:spPr>
          <a:xfrm>
            <a:off x="827532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ID</a:t>
            </a:r>
            <a:endParaRPr lang="en-US" sz="950" dirty="0"/>
          </a:p>
        </p:txBody>
      </p:sp>
      <p:sp>
        <p:nvSpPr>
          <p:cNvPr id="89" name="Text 50">
            <a:extLst>
              <a:ext uri="{FF2B5EF4-FFF2-40B4-BE49-F238E27FC236}">
                <a16:creationId xmlns:a16="http://schemas.microsoft.com/office/drawing/2014/main" id="{A72FEF1A-32F8-36CC-F5DA-B0BE6CEFA7DD}"/>
              </a:ext>
            </a:extLst>
          </p:cNvPr>
          <p:cNvSpPr/>
          <p:nvPr/>
        </p:nvSpPr>
        <p:spPr>
          <a:xfrm>
            <a:off x="9829800" y="4160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APT-2026-0417</a:t>
            </a:r>
            <a:endParaRPr lang="en-US" sz="950" dirty="0"/>
          </a:p>
        </p:txBody>
      </p:sp>
      <p:sp>
        <p:nvSpPr>
          <p:cNvPr id="91" name="Text 51">
            <a:extLst>
              <a:ext uri="{FF2B5EF4-FFF2-40B4-BE49-F238E27FC236}">
                <a16:creationId xmlns:a16="http://schemas.microsoft.com/office/drawing/2014/main" id="{75DD6A61-C03F-95D0-F6BD-D4E7DB20EB57}"/>
              </a:ext>
            </a:extLst>
          </p:cNvPr>
          <p:cNvSpPr/>
          <p:nvPr/>
        </p:nvSpPr>
        <p:spPr>
          <a:xfrm>
            <a:off x="8275320" y="4434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950" dirty="0"/>
          </a:p>
        </p:txBody>
      </p:sp>
      <p:sp>
        <p:nvSpPr>
          <p:cNvPr id="93" name="Text 52">
            <a:extLst>
              <a:ext uri="{FF2B5EF4-FFF2-40B4-BE49-F238E27FC236}">
                <a16:creationId xmlns:a16="http://schemas.microsoft.com/office/drawing/2014/main" id="{E9352D25-5656-2D81-17FA-C19A200ACA25}"/>
              </a:ext>
            </a:extLst>
          </p:cNvPr>
          <p:cNvSpPr/>
          <p:nvPr/>
        </p:nvSpPr>
        <p:spPr>
          <a:xfrm>
            <a:off x="9829800" y="4434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Naik</a:t>
            </a:r>
            <a:endParaRPr lang="en-US" sz="950" dirty="0"/>
          </a:p>
        </p:txBody>
      </p:sp>
      <p:sp>
        <p:nvSpPr>
          <p:cNvPr id="95" name="Text 53">
            <a:extLst>
              <a:ext uri="{FF2B5EF4-FFF2-40B4-BE49-F238E27FC236}">
                <a16:creationId xmlns:a16="http://schemas.microsoft.com/office/drawing/2014/main" id="{22B44C96-44E1-2B0B-2993-B892CEB83B45}"/>
              </a:ext>
            </a:extLst>
          </p:cNvPr>
          <p:cNvSpPr/>
          <p:nvPr/>
        </p:nvSpPr>
        <p:spPr>
          <a:xfrm>
            <a:off x="827532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950" dirty="0"/>
          </a:p>
        </p:txBody>
      </p:sp>
      <p:sp>
        <p:nvSpPr>
          <p:cNvPr id="97" name="Text 54">
            <a:extLst>
              <a:ext uri="{FF2B5EF4-FFF2-40B4-BE49-F238E27FC236}">
                <a16:creationId xmlns:a16="http://schemas.microsoft.com/office/drawing/2014/main" id="{95E1B017-A1FD-BF03-4E73-E108283027B2}"/>
              </a:ext>
            </a:extLst>
          </p:cNvPr>
          <p:cNvSpPr/>
          <p:nvPr/>
        </p:nvSpPr>
        <p:spPr>
          <a:xfrm>
            <a:off x="982980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Ponda APC</a:t>
            </a:r>
            <a:endParaRPr lang="en-US" sz="950" dirty="0"/>
          </a:p>
        </p:txBody>
      </p:sp>
      <p:sp>
        <p:nvSpPr>
          <p:cNvPr id="99" name="Text 55">
            <a:extLst>
              <a:ext uri="{FF2B5EF4-FFF2-40B4-BE49-F238E27FC236}">
                <a16:creationId xmlns:a16="http://schemas.microsoft.com/office/drawing/2014/main" id="{7012A2BC-B48D-E482-1289-F899F4DA2AEB}"/>
              </a:ext>
            </a:extLst>
          </p:cNvPr>
          <p:cNvSpPr/>
          <p:nvPr/>
        </p:nvSpPr>
        <p:spPr>
          <a:xfrm>
            <a:off x="827532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</a:t>
            </a:r>
            <a:endParaRPr lang="en-US" sz="950" dirty="0"/>
          </a:p>
        </p:txBody>
      </p:sp>
      <p:sp>
        <p:nvSpPr>
          <p:cNvPr id="101" name="Text 56">
            <a:extLst>
              <a:ext uri="{FF2B5EF4-FFF2-40B4-BE49-F238E27FC236}">
                <a16:creationId xmlns:a16="http://schemas.microsoft.com/office/drawing/2014/main" id="{859C64BE-34BC-676F-8E0B-D037BB306C1E}"/>
              </a:ext>
            </a:extLst>
          </p:cNvPr>
          <p:cNvSpPr/>
          <p:nvPr/>
        </p:nvSpPr>
        <p:spPr>
          <a:xfrm>
            <a:off x="9829800" y="4983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Sep · 10:30 AM</a:t>
            </a:r>
            <a:endParaRPr lang="en-US" sz="950" dirty="0"/>
          </a:p>
        </p:txBody>
      </p:sp>
      <p:sp>
        <p:nvSpPr>
          <p:cNvPr id="103" name="Text 57">
            <a:extLst>
              <a:ext uri="{FF2B5EF4-FFF2-40B4-BE49-F238E27FC236}">
                <a16:creationId xmlns:a16="http://schemas.microsoft.com/office/drawing/2014/main" id="{45A928C0-4583-B765-AA6C-09FB0EFE107E}"/>
              </a:ext>
            </a:extLst>
          </p:cNvPr>
          <p:cNvSpPr/>
          <p:nvPr/>
        </p:nvSpPr>
        <p:spPr>
          <a:xfrm>
            <a:off x="8275320" y="5257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950" dirty="0"/>
          </a:p>
        </p:txBody>
      </p:sp>
      <p:sp>
        <p:nvSpPr>
          <p:cNvPr id="105" name="Text 58">
            <a:extLst>
              <a:ext uri="{FF2B5EF4-FFF2-40B4-BE49-F238E27FC236}">
                <a16:creationId xmlns:a16="http://schemas.microsoft.com/office/drawing/2014/main" id="{40D71586-6163-D69C-1A5E-4DC55840E782}"/>
              </a:ext>
            </a:extLst>
          </p:cNvPr>
          <p:cNvSpPr/>
          <p:nvPr/>
        </p:nvSpPr>
        <p:spPr>
          <a:xfrm>
            <a:off x="9829800" y="52578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— 8 Qtl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Visit Is Simple. Planning It Isn't.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Visit Planning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may not have a simple way to know available visiting periods before travelling to a centre.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78308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457200" cy="457200"/>
          </a:xfrm>
          <a:prstGeom prst="ellipse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235000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need to organize visiting capacity across dates and time periods.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657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centre needs to control both farmers per time slot and total quintals per day.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34747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3703320"/>
            <a:ext cx="457200" cy="457200"/>
          </a:xfrm>
          <a:prstGeom prst="ellipse">
            <a:avLst/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657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40416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appointment details manually can make entry verification slower and less convenient.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513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0" y="6057900"/>
            <a:ext cx="91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670048" y="580644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670048" y="58064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to Centre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81728" y="6057900"/>
            <a:ext cx="91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91456" y="580644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91456" y="58064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Availability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03136" y="6057900"/>
            <a:ext cx="91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912864" y="580644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12864" y="58064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24544" y="6057900"/>
            <a:ext cx="914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9034272" y="5806440"/>
            <a:ext cx="1993392" cy="502920"/>
          </a:xfrm>
          <a:prstGeom prst="roundRect">
            <a:avLst>
              <a:gd name="adj" fmla="val 14545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034272" y="58064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Verification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A850B938-0D81-2106-9FEC-7312F8A21EEA}"/>
              </a:ext>
            </a:extLst>
          </p:cNvPr>
          <p:cNvGrpSpPr/>
          <p:nvPr/>
        </p:nvGrpSpPr>
        <p:grpSpPr>
          <a:xfrm>
            <a:off x="532591" y="997088"/>
            <a:ext cx="2377440" cy="347472"/>
            <a:chOff x="548640" y="457200"/>
            <a:chExt cx="2377440" cy="347472"/>
          </a:xfrm>
        </p:grpSpPr>
        <p:sp>
          <p:nvSpPr>
            <p:cNvPr id="2" name="Shape 0"/>
            <p:cNvSpPr/>
            <p:nvPr/>
          </p:nvSpPr>
          <p:spPr>
            <a:xfrm>
              <a:off x="548640" y="457200"/>
              <a:ext cx="2377440" cy="347472"/>
            </a:xfrm>
            <a:prstGeom prst="roundRect">
              <a:avLst>
                <a:gd name="adj" fmla="val 50000"/>
              </a:avLst>
            </a:prstGeom>
            <a:solidFill>
              <a:srgbClr val="EAF4E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" name="Text 1"/>
            <p:cNvSpPr/>
            <p:nvPr/>
          </p:nvSpPr>
          <p:spPr>
            <a:xfrm>
              <a:off x="548640" y="457200"/>
              <a:ext cx="23774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2D6A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SOLUTION</a:t>
              </a:r>
              <a:endParaRPr lang="en-US" sz="11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541735" y="1357287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Digital Visit Pass.</a:t>
            </a:r>
            <a:endParaRPr lang="en-US" sz="3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9DB696-96DA-F3AE-3CD9-8B53F07ED3B9}"/>
              </a:ext>
            </a:extLst>
          </p:cNvPr>
          <p:cNvGrpSpPr/>
          <p:nvPr/>
        </p:nvGrpSpPr>
        <p:grpSpPr>
          <a:xfrm>
            <a:off x="221695" y="2183830"/>
            <a:ext cx="7077456" cy="2926080"/>
            <a:chOff x="548640" y="1920240"/>
            <a:chExt cx="7077456" cy="2926080"/>
          </a:xfrm>
        </p:grpSpPr>
        <p:sp>
          <p:nvSpPr>
            <p:cNvPr id="5" name="Shape 3"/>
            <p:cNvSpPr/>
            <p:nvPr/>
          </p:nvSpPr>
          <p:spPr>
            <a:xfrm>
              <a:off x="548640" y="1920240"/>
              <a:ext cx="1371600" cy="29260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B4332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982980" y="2148840"/>
              <a:ext cx="502920" cy="502920"/>
            </a:xfrm>
            <a:prstGeom prst="ellipse">
              <a:avLst/>
            </a:prstGeom>
            <a:solidFill>
              <a:srgbClr val="2D6A4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982980" y="2148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5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21792" y="2788920"/>
              <a:ext cx="12252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Register</a:t>
              </a:r>
              <a:endParaRPr lang="en-US" sz="12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3291840"/>
              <a:ext cx="11887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Farmer creates a basic profile.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901952" y="2400300"/>
              <a:ext cx="91440" cy="0"/>
            </a:xfrm>
            <a:prstGeom prst="line">
              <a:avLst/>
            </a:prstGeom>
            <a:noFill/>
            <a:ln w="25400">
              <a:solidFill>
                <a:srgbClr val="D4A01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/>
            <p:cNvSpPr/>
            <p:nvPr/>
          </p:nvSpPr>
          <p:spPr>
            <a:xfrm>
              <a:off x="1975104" y="1920240"/>
              <a:ext cx="1371600" cy="29260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B4332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2409444" y="2148840"/>
              <a:ext cx="502920" cy="502920"/>
            </a:xfrm>
            <a:prstGeom prst="ellipse">
              <a:avLst/>
            </a:prstGeom>
            <a:solidFill>
              <a:srgbClr val="2D6A4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2409444" y="2148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5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048256" y="2788920"/>
              <a:ext cx="12252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Choose Centre</a:t>
              </a:r>
              <a:endParaRPr lang="en-US" sz="12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066544" y="3291840"/>
              <a:ext cx="11887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the required agricultural centre.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328416" y="2400300"/>
              <a:ext cx="91440" cy="0"/>
            </a:xfrm>
            <a:prstGeom prst="line">
              <a:avLst/>
            </a:prstGeom>
            <a:noFill/>
            <a:ln w="25400">
              <a:solidFill>
                <a:srgbClr val="D4A01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3401568" y="1920240"/>
              <a:ext cx="1371600" cy="29260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B4332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3835908" y="2148840"/>
              <a:ext cx="502920" cy="502920"/>
            </a:xfrm>
            <a:prstGeom prst="ellipse">
              <a:avLst/>
            </a:prstGeom>
            <a:solidFill>
              <a:srgbClr val="2D6A4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3835908" y="2148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5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474720" y="2788920"/>
              <a:ext cx="12252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Book Slot</a:t>
              </a:r>
              <a:endParaRPr lang="en-US" sz="12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493008" y="3291840"/>
              <a:ext cx="11887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date, time and crop/quantity details.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754880" y="2400300"/>
              <a:ext cx="91440" cy="0"/>
            </a:xfrm>
            <a:prstGeom prst="line">
              <a:avLst/>
            </a:prstGeom>
            <a:noFill/>
            <a:ln w="25400">
              <a:solidFill>
                <a:srgbClr val="D4A01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4828032" y="1920240"/>
              <a:ext cx="1371600" cy="29260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B4332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22"/>
            <p:cNvSpPr/>
            <p:nvPr/>
          </p:nvSpPr>
          <p:spPr>
            <a:xfrm>
              <a:off x="5262372" y="2148840"/>
              <a:ext cx="502920" cy="502920"/>
            </a:xfrm>
            <a:prstGeom prst="ellipse">
              <a:avLst/>
            </a:prstGeom>
            <a:solidFill>
              <a:srgbClr val="2D6A4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23"/>
            <p:cNvSpPr/>
            <p:nvPr/>
          </p:nvSpPr>
          <p:spPr>
            <a:xfrm>
              <a:off x="5262372" y="2148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5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901184" y="2788920"/>
              <a:ext cx="12252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 QR Pass</a:t>
              </a:r>
              <a:endParaRPr lang="en-US" sz="12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919472" y="3291840"/>
              <a:ext cx="11887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 generates a unique digital pass.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181344" y="2400300"/>
              <a:ext cx="91440" cy="0"/>
            </a:xfrm>
            <a:prstGeom prst="line">
              <a:avLst/>
            </a:prstGeom>
            <a:noFill/>
            <a:ln w="25400">
              <a:solidFill>
                <a:srgbClr val="D4A01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Shape 27"/>
            <p:cNvSpPr/>
            <p:nvPr/>
          </p:nvSpPr>
          <p:spPr>
            <a:xfrm>
              <a:off x="6254496" y="1920240"/>
              <a:ext cx="1371600" cy="29260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B4332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 28"/>
            <p:cNvSpPr/>
            <p:nvPr/>
          </p:nvSpPr>
          <p:spPr>
            <a:xfrm>
              <a:off x="6688836" y="2148840"/>
              <a:ext cx="502920" cy="502920"/>
            </a:xfrm>
            <a:prstGeom prst="ellipse">
              <a:avLst/>
            </a:prstGeom>
            <a:solidFill>
              <a:srgbClr val="2D6A4F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29"/>
            <p:cNvSpPr/>
            <p:nvPr/>
          </p:nvSpPr>
          <p:spPr>
            <a:xfrm>
              <a:off x="6688836" y="2148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15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327648" y="2788920"/>
              <a:ext cx="12252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Scan &amp; Verify</a:t>
              </a:r>
              <a:endParaRPr lang="en-US" sz="12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345936" y="3291840"/>
              <a:ext cx="11887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0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Centre scans QR — appointment validated.</a:t>
              </a:r>
              <a:endParaRPr lang="en-US" sz="10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-1564198" y="520588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dirty="0">
                <a:solidFill>
                  <a:srgbClr val="2D6A4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Five steps. Zero paperwork. One verified visit.</a:t>
            </a:r>
            <a:endParaRPr lang="en-US" sz="1150" dirty="0">
              <a:solidFill>
                <a:srgbClr val="2D6A4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02C51EE-589C-F59D-A68B-DA3913CBD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701" y="1494579"/>
            <a:ext cx="4277023" cy="4304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BHARATAGRI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0" y="1783080"/>
            <a:ext cx="182880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IN" sz="1100" b="1" dirty="0">
                <a:solidFill>
                  <a:srgbClr val="1B4332"/>
                </a:solidFill>
              </a:rPr>
              <a:t>USER INTERFACES</a:t>
            </a:r>
            <a:br>
              <a:rPr lang="en-IN" sz="1100" dirty="0">
                <a:solidFill>
                  <a:srgbClr val="1B4332"/>
                </a:solidFill>
              </a:rPr>
            </a:br>
            <a:r>
              <a:rPr lang="en-IN" sz="1100" dirty="0">
                <a:solidFill>
                  <a:srgbClr val="1B4332"/>
                </a:solidFill>
              </a:rPr>
              <a:t>Farmer • Procurement Centre </a:t>
            </a:r>
            <a:endParaRPr lang="en-US" sz="1100" dirty="0">
              <a:solidFill>
                <a:srgbClr val="1B433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651760" y="237744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737360" y="2651760"/>
            <a:ext cx="1828800" cy="594360"/>
          </a:xfrm>
          <a:prstGeom prst="roundRect">
            <a:avLst>
              <a:gd name="adj" fmla="val 1384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737360" y="2651760"/>
            <a:ext cx="18288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REST API</a:t>
            </a:r>
            <a:br>
              <a:rPr lang="en-IN" sz="1100" dirty="0">
                <a:solidFill>
                  <a:schemeClr val="bg1"/>
                </a:solidFill>
              </a:rPr>
            </a:br>
            <a:r>
              <a:rPr lang="en-IN" sz="1100" dirty="0">
                <a:solidFill>
                  <a:schemeClr val="bg1"/>
                </a:solidFill>
              </a:rPr>
              <a:t>Node.js + Express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324612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51560" y="3520440"/>
            <a:ext cx="3200400" cy="9144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51560" y="352044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251960" y="352044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5544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794760"/>
            <a:ext cx="17373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434340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0" y="4617720"/>
            <a:ext cx="2103120" cy="548640"/>
          </a:xfrm>
          <a:prstGeom prst="roundRect">
            <a:avLst>
              <a:gd name="adj" fmla="val 15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461772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IN" sz="1100" b="1" dirty="0">
                <a:solidFill>
                  <a:schemeClr val="bg1"/>
                </a:solidFill>
              </a:rPr>
              <a:t>SQLite Database</a:t>
            </a:r>
            <a:r>
              <a:rPr lang="en-IN" sz="1100" dirty="0">
                <a:solidFill>
                  <a:schemeClr val="bg1"/>
                </a:solidFill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51960" y="5166360"/>
            <a:ext cx="9144" cy="27432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0" y="5440680"/>
            <a:ext cx="3017520" cy="59436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0" y="5440680"/>
            <a:ext cx="30175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Centre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982478"/>
              </p:ext>
            </p:extLst>
          </p:nvPr>
        </p:nvGraphicFramePr>
        <p:xfrm>
          <a:off x="7452360" y="1783080"/>
          <a:ext cx="4160520" cy="356615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React + Vite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Node.js + Express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Custom Role-Based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 err="1"/>
                        <a:t>QRCode.react</a:t>
                      </a:r>
                      <a:r>
                        <a:rPr lang="en-IN" sz="1100" dirty="0"/>
                        <a:t> + HTML5-QRCode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100" dirty="0"/>
                        <a:t>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Feasible, Scalable, Impactful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architecture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9169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web-based system deployable without specialized hardware.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2885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use their phone to access appointments and their QR pass.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26280" y="20116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Centre-level scheduling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9169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centre defines operational days, date ranges, time slots, farmer capacity and daily quintal capacity.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977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architecture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26280" y="42885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supports more centres and users as adoption grows.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78308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75320" y="20116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75320" y="2011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2606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Farmers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29169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visits, digital pass, less uncertainty, simple QR verification.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75320" y="3977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75320" y="4288536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schedules, capacity control, date-wise planning, faster verification.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DATE-WISE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97680" y="534924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97680" y="5349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SLOT-WISE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534924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046720" y="53492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CROP-WISE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Appointment to Verified Entry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shots/crop_farmer_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856232"/>
            <a:ext cx="2276856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86207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Dashboard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shots/crop_slot_managem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47872" y="1856232"/>
            <a:ext cx="2276856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286207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Management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429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shots/crop_qr_pass.png"/>
          <p:cNvPicPr>
            <a:picLocks noChangeAspect="1"/>
          </p:cNvPicPr>
          <p:nvPr/>
        </p:nvPicPr>
        <p:blipFill>
          <a:blip r:embed="rId5"/>
          <a:srcRect b="41486"/>
          <a:stretch>
            <a:fillRect/>
          </a:stretch>
        </p:blipFill>
        <p:spPr>
          <a:xfrm>
            <a:off x="1077918" y="3669616"/>
            <a:ext cx="1396700" cy="929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459943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Appointment Pass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383280" y="3429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  <a:effectLst>
            <a:outerShdw blurRad="101600" dist="38100" dir="5400000" algn="bl" rotWithShape="0">
              <a:srgbClr val="1B433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shots/crop_qr_verify.png"/>
          <p:cNvPicPr>
            <a:picLocks noChangeAspect="1"/>
          </p:cNvPicPr>
          <p:nvPr/>
        </p:nvPicPr>
        <p:blipFill>
          <a:blip r:embed="rId6"/>
          <a:srcRect t="17120"/>
          <a:stretch>
            <a:fillRect/>
          </a:stretch>
        </p:blipFill>
        <p:spPr>
          <a:xfrm>
            <a:off x="3931920" y="3597676"/>
            <a:ext cx="1541230" cy="119676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47872" y="4599432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355080" y="1691640"/>
            <a:ext cx="4709160" cy="3291840"/>
          </a:xfrm>
          <a:prstGeom prst="roundRect">
            <a:avLst>
              <a:gd name="adj" fmla="val 333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66294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629400" y="24231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— Farmer and Procurement Centre portals are fully functional end to end.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2940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641080" y="32004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FARMER-101 / pass123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629400" y="3547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login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641080" y="35478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CENTRE-001 / pass123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629400" y="38953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ID format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641080" y="389534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PF-YYMMDD-XXX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629400" y="4242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641080" y="42428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Node/Express · SQLite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5522976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548640" y="55229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172968" y="5751576"/>
            <a:ext cx="1463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3337560" y="5522976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3337560" y="55229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Network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961888" y="5751576"/>
            <a:ext cx="1463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6126480" y="5522976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6126480" y="55229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8750808" y="5751576"/>
            <a:ext cx="14630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8915400" y="5522976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8915400" y="55229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Capacity Prediction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1129284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483</Words>
  <Application>Microsoft Office PowerPoint</Application>
  <PresentationFormat>Widescreen</PresentationFormat>
  <Paragraphs>139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Vedhant Sawant</cp:lastModifiedBy>
  <cp:revision>4</cp:revision>
  <dcterms:created xsi:type="dcterms:W3CDTF">2026-09-12T12:12:50Z</dcterms:created>
  <dcterms:modified xsi:type="dcterms:W3CDTF">2026-09-12T15:20:07Z</dcterms:modified>
</cp:coreProperties>
</file>